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60120"/>
            <a:ext cx="237744" cy="237744"/>
          </a:xfrm>
          <a:prstGeom prst="ellipse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950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RADET is cumulative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66160" y="960120"/>
            <a:ext cx="237744" cy="237744"/>
          </a:xfrm>
          <a:prstGeom prst="ellipse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58768" y="950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Success-only overwrite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960120"/>
            <a:ext cx="237744" cy="23774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3408" y="950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40-min offset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No-Data-Loss Solution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31520" y="22677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enterprise lifecycle — every service, every cycle, every day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76809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880360"/>
            <a:ext cx="1508760" cy="1097280"/>
          </a:xfrm>
          <a:prstGeom prst="rect">
            <a:avLst/>
          </a:prstGeom>
          <a:solidFill>
            <a:srgbClr val="0D2E5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44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1520" y="3419856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 uploads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facility per day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95728" y="2880360"/>
            <a:ext cx="1508760" cy="1097280"/>
          </a:xfrm>
          <a:prstGeom prst="rect">
            <a:avLst/>
          </a:prstGeom>
          <a:solidFill>
            <a:srgbClr val="0D2E5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2944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395728" y="3419856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+ DHIS2 cycles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59936" y="2880360"/>
            <a:ext cx="1508760" cy="1097280"/>
          </a:xfrm>
          <a:prstGeom prst="rect">
            <a:avLst/>
          </a:prstGeom>
          <a:solidFill>
            <a:srgbClr val="0D2E5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9936" y="2944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059936" y="3419856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 posts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noon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24144" y="2880360"/>
            <a:ext cx="1508760" cy="1097280"/>
          </a:xfrm>
          <a:prstGeom prst="rect">
            <a:avLst/>
          </a:prstGeom>
          <a:solidFill>
            <a:srgbClr val="0D2E5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4144" y="2944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23:30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724144" y="3419856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sealed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88352" y="2880360"/>
            <a:ext cx="1508760" cy="1097280"/>
          </a:xfrm>
          <a:prstGeom prst="rect">
            <a:avLst/>
          </a:prstGeom>
          <a:solidFill>
            <a:srgbClr val="0D2E5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88352" y="2944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05:50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88352" y="3419856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Principles That Make Data Loss Impossible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51206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these three rules hold, no data can ever be permanently lost — regardless of how many cycles fail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987552"/>
            <a:ext cx="8869680" cy="12618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987552"/>
            <a:ext cx="566928" cy="126187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987552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096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RADET is a cumulative daily snapshot — overwriting is safe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8096" y="13350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prevents data loss: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56816" y="13167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08:00 upload → contains all patient data from midnight to 08:00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56816" y="152704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10:00 upload → contains all patient data from midnight to 10:00  (includes everything from 08:00 plus 2 more hours)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56816" y="173736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When 10:00 overwrites 08:00 in the blob → zero data is lost  (10:00 already has all of 08:00's data inside it)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56816" y="194767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latest file is always the most complete file  →  overwrite = upgrade, never downgrade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" y="2340864"/>
            <a:ext cx="8869680" cy="1261872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" y="2340864"/>
            <a:ext cx="566928" cy="1261872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2340864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096" y="2395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 only overwrites on successful upload — failure preserves previous data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8096" y="268833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prevents data loss: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56816" y="267004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10:00 cycle: LAMIS is slow, upload times out  →  NO new file written  →  08:00 file stays in blob untouched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56816" y="288036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12:00 cycle: LAMIS recovers, upload succeeds  →  12:00 file overwrites 08:00  →  latest data now in blob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56816" y="309067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Combiner at any point reads the most recently SUCCESSFULLY uploaded file for each facility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56816" y="330098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Even if 5 consecutive cycles fail, the last successful upload remains in blob and gets combined every cycle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" y="3694176"/>
            <a:ext cx="8869680" cy="126187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" y="3694176"/>
            <a:ext cx="566928" cy="12618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3694176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096" y="3749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runs every 2 hours aligned exactly 40 minutes after AutoRadet — no drift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" y="40416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prevents data loss: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56816" y="402336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AutoRadet: every 2 hours (00:00, 02:00, ..., 22:00)  →  same cadence as clinical workflow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56816" y="423367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Combiner: every 2 hours offset by 40 min (08:40, 10:40, ..., 22:40)  →  always reads the just-uploaded file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56816" y="444398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40-minute buffer absorbs slow uploads (large facilities on 2 Mbps connections)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56816" y="465429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cycle drift — at any point in the day the Combiner is reading data at most 40 minutes old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Morning Uploads — Why the 00:00 to 06:00 Cycles Are Safe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51206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AutoRadet uploads happen before the coordinated pipeline starts. Here is exactly why none of their data is lost.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841248"/>
            <a:ext cx="8778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3210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0" cy="1517904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01168" y="93268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21408" y="914400"/>
            <a:ext cx="0" cy="1517904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865376" y="93268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85616" y="914400"/>
            <a:ext cx="0" cy="1517904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529584" y="93268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49824" y="914400"/>
            <a:ext cx="0" cy="1517904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193792" y="93268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114032" y="914400"/>
            <a:ext cx="0" cy="1517904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858000" y="93268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778240" y="914400"/>
            <a:ext cx="0" cy="1517904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522208" y="93268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6542" y="1298448"/>
            <a:ext cx="693420" cy="731520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974" y="1298448"/>
            <a:ext cx="63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190750" y="1298448"/>
            <a:ext cx="693420" cy="731520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18182" y="1298448"/>
            <a:ext cx="63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54958" y="1298448"/>
            <a:ext cx="693420" cy="731520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2390" y="1298448"/>
            <a:ext cx="63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04:00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19166" y="1298448"/>
            <a:ext cx="693420" cy="731520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46598" y="1298448"/>
            <a:ext cx="63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83374" y="1298448"/>
            <a:ext cx="693420" cy="731520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10806" y="1298448"/>
            <a:ext cx="63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(pipeline starts)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73252" y="1408176"/>
            <a:ext cx="131749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" y="1271016"/>
            <a:ext cx="1226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→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537460" y="1408176"/>
            <a:ext cx="131749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83180" y="1271016"/>
            <a:ext cx="1226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→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201668" y="1408176"/>
            <a:ext cx="131749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47388" y="1271016"/>
            <a:ext cx="1226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→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865876" y="1408176"/>
            <a:ext cx="131749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11596" y="1271016"/>
            <a:ext cx="1226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→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068312" y="1188720"/>
            <a:ext cx="73152" cy="960120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98892" y="1344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08:40 Combiner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THIS file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2633472"/>
            <a:ext cx="2816352" cy="235915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82880" y="2633472"/>
            <a:ext cx="2816352" cy="5486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743200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the 08:00 file?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74320" y="3108960"/>
            <a:ext cx="263347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00:00 + 02:00 + 04:00 + 06:00 uploads combined,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any new data added between 06:00 and 08:00.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08:00 query to LAMIS returns ALL enrolled patients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their current status — a complete picture.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182112" y="2633472"/>
            <a:ext cx="2816352" cy="235915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182112" y="2633472"/>
            <a:ext cx="2816352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2743200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overwriting 00:00–06:00 lose any data?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73552" y="3108960"/>
            <a:ext cx="263347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RADET is not incremental. It does not store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happened between 06:00 and 08:00'.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the full patient list as of query time.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08:00 file is a superset of all earlier files.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81344" y="2633472"/>
            <a:ext cx="2816352" cy="2359152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81344" y="2633472"/>
            <a:ext cx="2816352" cy="54864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72784" y="2743200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08:00 upload fails? Is 06:00 data lost?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272784" y="3108960"/>
            <a:ext cx="263347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AutoRadet only overwrites on SUCCESS.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08:00 fails → 06:00 file stays in blob.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at 08:40 reads the 06:00 file.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2hrs old but present, complete, and posted to DHIS2.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Daily Lifecycle — Every Service, Every Event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51206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time, service, action, and running count for each event in a full 24-hour 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" y="768096"/>
            <a:ext cx="8924544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" y="79552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7824" y="795528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9696" y="79552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41848" y="79552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#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44768" y="79552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#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647688" y="79552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#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50608" y="795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9728" y="1078992"/>
            <a:ext cx="8924544" cy="153619"/>
          </a:xfrm>
          <a:prstGeom prst="rect">
            <a:avLst/>
          </a:prstGeom>
          <a:solidFill>
            <a:srgbClr val="F8FAFC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" y="1088136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41248" y="1097280"/>
            <a:ext cx="1207008" cy="117043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1097280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103120" y="1088136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1 — full snapshot of all patients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05272" y="1088136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08192" y="1088136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11112" y="1088136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14032" y="1088136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morning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09728" y="1232611"/>
            <a:ext cx="8924544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" y="1241755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41248" y="1250899"/>
            <a:ext cx="1207008" cy="117043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1250899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103120" y="1241755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2 — overwrites Upload 1 (cumulative, no loss)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05272" y="1241755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08192" y="1241755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11112" y="1241755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14032" y="1241755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Supersedes 00:00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9728" y="1386230"/>
            <a:ext cx="8924544" cy="153619"/>
          </a:xfrm>
          <a:prstGeom prst="rect">
            <a:avLst/>
          </a:prstGeom>
          <a:solidFill>
            <a:srgbClr val="F8FAFC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" y="1395374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41248" y="1404518"/>
            <a:ext cx="1207008" cy="117043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1404518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103120" y="1395374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3 — overwrites Upload 2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05272" y="1395374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08192" y="1395374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611112" y="1395374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114032" y="1395374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Supersedes 02:00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9728" y="1539850"/>
            <a:ext cx="8924544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5448" y="1548994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41248" y="1558138"/>
            <a:ext cx="1207008" cy="117043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1558138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103120" y="1548994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4 — overwrites Upload 3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605272" y="1548994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08192" y="1548994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611112" y="1548994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114032" y="1548994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Supersedes 04:00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09728" y="1693469"/>
            <a:ext cx="8924544" cy="153619"/>
          </a:xfrm>
          <a:prstGeom prst="rect">
            <a:avLst/>
          </a:prstGeom>
          <a:solidFill>
            <a:srgbClr val="EBF4FA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" y="1702613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41248" y="1711757"/>
            <a:ext cx="1207008" cy="117043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1711757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103120" y="1702613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5 — overwrites Upload 4  ← PIPELINE DAY BEGINS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605272" y="1702613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108192" y="1702613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611112" y="1702613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114032" y="1702613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aligns here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09728" y="1847088"/>
            <a:ext cx="8924544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5448" y="1856232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08:40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41248" y="1865376"/>
            <a:ext cx="1207008" cy="117043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" y="1865376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103120" y="1856232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 — reads 08:00 file, registry check, merge, upload combined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605272" y="1856232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108192" y="1856232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611112" y="1856232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114032" y="1856232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 after AR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09728" y="2000707"/>
            <a:ext cx="8924544" cy="153619"/>
          </a:xfrm>
          <a:prstGeom prst="rect">
            <a:avLst/>
          </a:prstGeom>
          <a:solidFill>
            <a:srgbClr val="DCFCE7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55448" y="2009851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41248" y="2018995"/>
            <a:ext cx="1207008" cy="117043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1248" y="2018995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103120" y="2009851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1 — posts to DHIS2  ✓ done 09:30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605272" y="2009851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108192" y="2009851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611112" y="2009851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114032" y="2009851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BEFORE NOON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9728" y="2154326"/>
            <a:ext cx="8924544" cy="153619"/>
          </a:xfrm>
          <a:prstGeom prst="rect">
            <a:avLst/>
          </a:prstGeom>
          <a:solidFill>
            <a:srgbClr val="F8FAFC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5448" y="2163470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841248" y="2172614"/>
            <a:ext cx="1207008" cy="117043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41248" y="2172614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2103120" y="2163470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6 — overwrites Upload 5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605272" y="2163470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108192" y="2163470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611112" y="2163470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114032" y="2163470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09728" y="2307946"/>
            <a:ext cx="8924544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5448" y="2317090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10:40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41248" y="2326234"/>
            <a:ext cx="1207008" cy="117043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41248" y="2326234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2103120" y="2317090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— reads 10:00 file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605272" y="2317090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108192" y="2317090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611112" y="2317090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114032" y="2317090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 after AR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109728" y="2461565"/>
            <a:ext cx="8924544" cy="153619"/>
          </a:xfrm>
          <a:prstGeom prst="rect">
            <a:avLst/>
          </a:prstGeom>
          <a:solidFill>
            <a:srgbClr val="DCFCE7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55448" y="2470709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11:10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841248" y="2479853"/>
            <a:ext cx="1207008" cy="117043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41248" y="2479853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2103120" y="2470709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2 — posts to DHIS2  ✓ done 11:30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5605272" y="2470709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6108192" y="2470709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611112" y="2470709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7114032" y="2470709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BEFORE NOON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09728" y="2615184"/>
            <a:ext cx="8924544" cy="153619"/>
          </a:xfrm>
          <a:prstGeom prst="rect">
            <a:avLst/>
          </a:prstGeom>
          <a:solidFill>
            <a:srgbClr val="F8FAFC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55448" y="2624328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41248" y="2633472"/>
            <a:ext cx="1207008" cy="117043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41248" y="2633472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2103120" y="2624328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7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5605272" y="2624328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6108192" y="2624328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6611112" y="2624328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7114032" y="2624328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109728" y="2768803"/>
            <a:ext cx="8924544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55448" y="2777947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12:40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841248" y="2787091"/>
            <a:ext cx="1207008" cy="117043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41248" y="2787091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2103120" y="2777947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5605272" y="2777947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6108192" y="2777947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6611112" y="2777947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7114032" y="2777947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9728" y="2922422"/>
            <a:ext cx="8924544" cy="153619"/>
          </a:xfrm>
          <a:prstGeom prst="rect">
            <a:avLst/>
          </a:prstGeom>
          <a:solidFill>
            <a:srgbClr val="F8FAFC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55448" y="2931566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13:10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841248" y="2940710"/>
            <a:ext cx="1207008" cy="117043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41248" y="2940710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2103120" y="2931566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3  (done 13:30)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5605272" y="2931566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6108192" y="2931566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6611112" y="2931566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7114032" y="2931566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109728" y="3076042"/>
            <a:ext cx="8924544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55448" y="3085186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841248" y="3094330"/>
            <a:ext cx="1207008" cy="117043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41248" y="3094330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2103120" y="3085186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8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5605272" y="3085186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6108192" y="3085186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6611112" y="3085186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7114032" y="3085186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109728" y="3229661"/>
            <a:ext cx="8924544" cy="153619"/>
          </a:xfrm>
          <a:prstGeom prst="rect">
            <a:avLst/>
          </a:prstGeom>
          <a:solidFill>
            <a:srgbClr val="F8FAFC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55448" y="3238805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14:40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841248" y="3247949"/>
            <a:ext cx="1207008" cy="117043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41248" y="3247949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</a:t>
            </a:r>
            <a:endParaRPr lang="en-US" sz="750" dirty="0"/>
          </a:p>
        </p:txBody>
      </p:sp>
      <p:sp>
        <p:nvSpPr>
          <p:cNvPr id="143" name="Text 141"/>
          <p:cNvSpPr/>
          <p:nvPr/>
        </p:nvSpPr>
        <p:spPr>
          <a:xfrm>
            <a:off x="2103120" y="3238805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4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5605272" y="3238805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6108192" y="3238805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6611112" y="3238805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47" name="Text 145"/>
          <p:cNvSpPr/>
          <p:nvPr/>
        </p:nvSpPr>
        <p:spPr>
          <a:xfrm>
            <a:off x="7114032" y="3238805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109728" y="3383280"/>
            <a:ext cx="8924544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55448" y="3392424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15:10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841248" y="3401568"/>
            <a:ext cx="1207008" cy="117043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41248" y="3401568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2103120" y="3392424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4  (done 15:30)</a:t>
            </a:r>
            <a:endParaRPr lang="en-US" sz="750" dirty="0"/>
          </a:p>
        </p:txBody>
      </p:sp>
      <p:sp>
        <p:nvSpPr>
          <p:cNvPr id="153" name="Text 151"/>
          <p:cNvSpPr/>
          <p:nvPr/>
        </p:nvSpPr>
        <p:spPr>
          <a:xfrm>
            <a:off x="5605272" y="3392424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54" name="Text 152"/>
          <p:cNvSpPr/>
          <p:nvPr/>
        </p:nvSpPr>
        <p:spPr>
          <a:xfrm>
            <a:off x="6108192" y="3392424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55" name="Text 153"/>
          <p:cNvSpPr/>
          <p:nvPr/>
        </p:nvSpPr>
        <p:spPr>
          <a:xfrm>
            <a:off x="6611112" y="3392424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56" name="Text 154"/>
          <p:cNvSpPr/>
          <p:nvPr/>
        </p:nvSpPr>
        <p:spPr>
          <a:xfrm>
            <a:off x="7114032" y="3392424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109728" y="3536899"/>
            <a:ext cx="8924544" cy="153619"/>
          </a:xfrm>
          <a:prstGeom prst="rect">
            <a:avLst/>
          </a:prstGeom>
          <a:solidFill>
            <a:srgbClr val="F8FAFC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55448" y="3546043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841248" y="3555187"/>
            <a:ext cx="1207008" cy="117043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841248" y="3555187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2103120" y="3546043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9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5605272" y="3546043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63" name="Text 161"/>
          <p:cNvSpPr/>
          <p:nvPr/>
        </p:nvSpPr>
        <p:spPr>
          <a:xfrm>
            <a:off x="6108192" y="3546043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6611112" y="3546043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65" name="Text 163"/>
          <p:cNvSpPr/>
          <p:nvPr/>
        </p:nvSpPr>
        <p:spPr>
          <a:xfrm>
            <a:off x="7114032" y="3546043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109728" y="3690518"/>
            <a:ext cx="8924544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55448" y="3699662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16:40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841248" y="3708806"/>
            <a:ext cx="1207008" cy="117043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841248" y="3708806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2103120" y="3699662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5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5605272" y="3699662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72" name="Text 170"/>
          <p:cNvSpPr/>
          <p:nvPr/>
        </p:nvSpPr>
        <p:spPr>
          <a:xfrm>
            <a:off x="6108192" y="3699662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73" name="Text 171"/>
          <p:cNvSpPr/>
          <p:nvPr/>
        </p:nvSpPr>
        <p:spPr>
          <a:xfrm>
            <a:off x="6611112" y="3699662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74" name="Text 172"/>
          <p:cNvSpPr/>
          <p:nvPr/>
        </p:nvSpPr>
        <p:spPr>
          <a:xfrm>
            <a:off x="7114032" y="3699662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75" name="Shape 173"/>
          <p:cNvSpPr/>
          <p:nvPr/>
        </p:nvSpPr>
        <p:spPr>
          <a:xfrm>
            <a:off x="109728" y="3844138"/>
            <a:ext cx="8924544" cy="153619"/>
          </a:xfrm>
          <a:prstGeom prst="rect">
            <a:avLst/>
          </a:prstGeom>
          <a:solidFill>
            <a:srgbClr val="F8FAFC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55448" y="3853282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17:10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841248" y="3862426"/>
            <a:ext cx="1207008" cy="117043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841248" y="3862426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</a:t>
            </a:r>
            <a:endParaRPr lang="en-US" sz="750" dirty="0"/>
          </a:p>
        </p:txBody>
      </p:sp>
      <p:sp>
        <p:nvSpPr>
          <p:cNvPr id="179" name="Text 177"/>
          <p:cNvSpPr/>
          <p:nvPr/>
        </p:nvSpPr>
        <p:spPr>
          <a:xfrm>
            <a:off x="2103120" y="3853282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5  (done 17:30)</a:t>
            </a:r>
            <a:endParaRPr lang="en-US" sz="750" dirty="0"/>
          </a:p>
        </p:txBody>
      </p:sp>
      <p:sp>
        <p:nvSpPr>
          <p:cNvPr id="180" name="Text 178"/>
          <p:cNvSpPr/>
          <p:nvPr/>
        </p:nvSpPr>
        <p:spPr>
          <a:xfrm>
            <a:off x="5605272" y="3853282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81" name="Text 179"/>
          <p:cNvSpPr/>
          <p:nvPr/>
        </p:nvSpPr>
        <p:spPr>
          <a:xfrm>
            <a:off x="6108192" y="3853282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82" name="Text 180"/>
          <p:cNvSpPr/>
          <p:nvPr/>
        </p:nvSpPr>
        <p:spPr>
          <a:xfrm>
            <a:off x="6611112" y="3853282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7114032" y="3853282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109728" y="3997757"/>
            <a:ext cx="8924544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55448" y="4006901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841248" y="4016045"/>
            <a:ext cx="1207008" cy="117043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841248" y="4016045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750" dirty="0"/>
          </a:p>
        </p:txBody>
      </p:sp>
      <p:sp>
        <p:nvSpPr>
          <p:cNvPr id="188" name="Text 186"/>
          <p:cNvSpPr/>
          <p:nvPr/>
        </p:nvSpPr>
        <p:spPr>
          <a:xfrm>
            <a:off x="2103120" y="4006901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10</a:t>
            </a:r>
            <a:endParaRPr lang="en-US" sz="750" dirty="0"/>
          </a:p>
        </p:txBody>
      </p:sp>
      <p:sp>
        <p:nvSpPr>
          <p:cNvPr id="189" name="Text 187"/>
          <p:cNvSpPr/>
          <p:nvPr/>
        </p:nvSpPr>
        <p:spPr>
          <a:xfrm>
            <a:off x="5605272" y="4006901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90" name="Text 188"/>
          <p:cNvSpPr/>
          <p:nvPr/>
        </p:nvSpPr>
        <p:spPr>
          <a:xfrm>
            <a:off x="6108192" y="4006901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91" name="Text 189"/>
          <p:cNvSpPr/>
          <p:nvPr/>
        </p:nvSpPr>
        <p:spPr>
          <a:xfrm>
            <a:off x="6611112" y="4006901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92" name="Text 190"/>
          <p:cNvSpPr/>
          <p:nvPr/>
        </p:nvSpPr>
        <p:spPr>
          <a:xfrm>
            <a:off x="7114032" y="4006901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>
            <a:off x="109728" y="4151376"/>
            <a:ext cx="8924544" cy="153619"/>
          </a:xfrm>
          <a:prstGeom prst="rect">
            <a:avLst/>
          </a:prstGeom>
          <a:solidFill>
            <a:srgbClr val="F8FAFC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55448" y="4160520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18:40</a:t>
            </a:r>
            <a:endParaRPr lang="en-US" sz="800" dirty="0"/>
          </a:p>
        </p:txBody>
      </p:sp>
      <p:sp>
        <p:nvSpPr>
          <p:cNvPr id="195" name="Shape 193"/>
          <p:cNvSpPr/>
          <p:nvPr/>
        </p:nvSpPr>
        <p:spPr>
          <a:xfrm>
            <a:off x="841248" y="4169664"/>
            <a:ext cx="1207008" cy="117043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41248" y="4169664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</a:t>
            </a:r>
            <a:endParaRPr lang="en-US" sz="750" dirty="0"/>
          </a:p>
        </p:txBody>
      </p:sp>
      <p:sp>
        <p:nvSpPr>
          <p:cNvPr id="197" name="Text 195"/>
          <p:cNvSpPr/>
          <p:nvPr/>
        </p:nvSpPr>
        <p:spPr>
          <a:xfrm>
            <a:off x="2103120" y="4160520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6</a:t>
            </a:r>
            <a:endParaRPr lang="en-US" sz="750" dirty="0"/>
          </a:p>
        </p:txBody>
      </p:sp>
      <p:sp>
        <p:nvSpPr>
          <p:cNvPr id="198" name="Text 196"/>
          <p:cNvSpPr/>
          <p:nvPr/>
        </p:nvSpPr>
        <p:spPr>
          <a:xfrm>
            <a:off x="5605272" y="4160520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99" name="Text 197"/>
          <p:cNvSpPr/>
          <p:nvPr/>
        </p:nvSpPr>
        <p:spPr>
          <a:xfrm>
            <a:off x="6108192" y="4160520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00" name="Text 198"/>
          <p:cNvSpPr/>
          <p:nvPr/>
        </p:nvSpPr>
        <p:spPr>
          <a:xfrm>
            <a:off x="6611112" y="4160520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01" name="Text 199"/>
          <p:cNvSpPr/>
          <p:nvPr/>
        </p:nvSpPr>
        <p:spPr>
          <a:xfrm>
            <a:off x="7114032" y="4160520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109728" y="4304995"/>
            <a:ext cx="8924544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155448" y="4314139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19:10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841248" y="4323283"/>
            <a:ext cx="1207008" cy="117043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841248" y="4323283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</a:t>
            </a:r>
            <a:endParaRPr lang="en-US" sz="750" dirty="0"/>
          </a:p>
        </p:txBody>
      </p:sp>
      <p:sp>
        <p:nvSpPr>
          <p:cNvPr id="206" name="Text 204"/>
          <p:cNvSpPr/>
          <p:nvPr/>
        </p:nvSpPr>
        <p:spPr>
          <a:xfrm>
            <a:off x="2103120" y="4314139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6  (done 19:30)</a:t>
            </a:r>
            <a:endParaRPr lang="en-US" sz="750" dirty="0"/>
          </a:p>
        </p:txBody>
      </p:sp>
      <p:sp>
        <p:nvSpPr>
          <p:cNvPr id="207" name="Text 205"/>
          <p:cNvSpPr/>
          <p:nvPr/>
        </p:nvSpPr>
        <p:spPr>
          <a:xfrm>
            <a:off x="5605272" y="4314139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208" name="Text 206"/>
          <p:cNvSpPr/>
          <p:nvPr/>
        </p:nvSpPr>
        <p:spPr>
          <a:xfrm>
            <a:off x="6108192" y="4314139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6611112" y="4314139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10" name="Text 208"/>
          <p:cNvSpPr/>
          <p:nvPr/>
        </p:nvSpPr>
        <p:spPr>
          <a:xfrm>
            <a:off x="7114032" y="4314139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109728" y="4458614"/>
            <a:ext cx="8924544" cy="153619"/>
          </a:xfrm>
          <a:prstGeom prst="rect">
            <a:avLst/>
          </a:prstGeom>
          <a:solidFill>
            <a:srgbClr val="F8FAFC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155448" y="4467758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800" dirty="0"/>
          </a:p>
        </p:txBody>
      </p:sp>
      <p:sp>
        <p:nvSpPr>
          <p:cNvPr id="213" name="Shape 211"/>
          <p:cNvSpPr/>
          <p:nvPr/>
        </p:nvSpPr>
        <p:spPr>
          <a:xfrm>
            <a:off x="841248" y="4476902"/>
            <a:ext cx="1207008" cy="117043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841248" y="4476902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750" dirty="0"/>
          </a:p>
        </p:txBody>
      </p:sp>
      <p:sp>
        <p:nvSpPr>
          <p:cNvPr id="215" name="Text 213"/>
          <p:cNvSpPr/>
          <p:nvPr/>
        </p:nvSpPr>
        <p:spPr>
          <a:xfrm>
            <a:off x="2103120" y="4467758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11</a:t>
            </a:r>
            <a:endParaRPr lang="en-US" sz="750" dirty="0"/>
          </a:p>
        </p:txBody>
      </p:sp>
      <p:sp>
        <p:nvSpPr>
          <p:cNvPr id="216" name="Text 214"/>
          <p:cNvSpPr/>
          <p:nvPr/>
        </p:nvSpPr>
        <p:spPr>
          <a:xfrm>
            <a:off x="5605272" y="4467758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217" name="Text 215"/>
          <p:cNvSpPr/>
          <p:nvPr/>
        </p:nvSpPr>
        <p:spPr>
          <a:xfrm>
            <a:off x="6108192" y="4467758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6611112" y="4467758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7114032" y="4467758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20" name="Shape 218"/>
          <p:cNvSpPr/>
          <p:nvPr/>
        </p:nvSpPr>
        <p:spPr>
          <a:xfrm>
            <a:off x="109728" y="4612234"/>
            <a:ext cx="8924544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155448" y="4621378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20:40</a:t>
            </a:r>
            <a:endParaRPr lang="en-US" sz="800" dirty="0"/>
          </a:p>
        </p:txBody>
      </p:sp>
      <p:sp>
        <p:nvSpPr>
          <p:cNvPr id="222" name="Shape 220"/>
          <p:cNvSpPr/>
          <p:nvPr/>
        </p:nvSpPr>
        <p:spPr>
          <a:xfrm>
            <a:off x="841248" y="4630522"/>
            <a:ext cx="1207008" cy="117043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841248" y="4630522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</a:t>
            </a:r>
            <a:endParaRPr lang="en-US" sz="750" dirty="0"/>
          </a:p>
        </p:txBody>
      </p:sp>
      <p:sp>
        <p:nvSpPr>
          <p:cNvPr id="224" name="Text 222"/>
          <p:cNvSpPr/>
          <p:nvPr/>
        </p:nvSpPr>
        <p:spPr>
          <a:xfrm>
            <a:off x="2103120" y="4621378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7</a:t>
            </a:r>
            <a:endParaRPr lang="en-US" sz="750" dirty="0"/>
          </a:p>
        </p:txBody>
      </p:sp>
      <p:sp>
        <p:nvSpPr>
          <p:cNvPr id="225" name="Text 223"/>
          <p:cNvSpPr/>
          <p:nvPr/>
        </p:nvSpPr>
        <p:spPr>
          <a:xfrm>
            <a:off x="5605272" y="4621378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6108192" y="4621378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6611112" y="4621378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28" name="Text 226"/>
          <p:cNvSpPr/>
          <p:nvPr/>
        </p:nvSpPr>
        <p:spPr>
          <a:xfrm>
            <a:off x="7114032" y="4621378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29" name="Shape 227"/>
          <p:cNvSpPr/>
          <p:nvPr/>
        </p:nvSpPr>
        <p:spPr>
          <a:xfrm>
            <a:off x="109728" y="4765853"/>
            <a:ext cx="8924544" cy="153619"/>
          </a:xfrm>
          <a:prstGeom prst="rect">
            <a:avLst/>
          </a:prstGeom>
          <a:solidFill>
            <a:srgbClr val="F8FAFC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55448" y="4774997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21:10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841248" y="4784141"/>
            <a:ext cx="1207008" cy="117043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841248" y="4784141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</a:t>
            </a:r>
            <a:endParaRPr lang="en-US" sz="750" dirty="0"/>
          </a:p>
        </p:txBody>
      </p:sp>
      <p:sp>
        <p:nvSpPr>
          <p:cNvPr id="233" name="Text 231"/>
          <p:cNvSpPr/>
          <p:nvPr/>
        </p:nvSpPr>
        <p:spPr>
          <a:xfrm>
            <a:off x="2103120" y="4774997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7  (done 21:30)</a:t>
            </a:r>
            <a:endParaRPr lang="en-US" sz="750" dirty="0"/>
          </a:p>
        </p:txBody>
      </p:sp>
      <p:sp>
        <p:nvSpPr>
          <p:cNvPr id="234" name="Text 232"/>
          <p:cNvSpPr/>
          <p:nvPr/>
        </p:nvSpPr>
        <p:spPr>
          <a:xfrm>
            <a:off x="5605272" y="4774997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235" name="Text 233"/>
          <p:cNvSpPr/>
          <p:nvPr/>
        </p:nvSpPr>
        <p:spPr>
          <a:xfrm>
            <a:off x="6108192" y="4774997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236" name="Text 234"/>
          <p:cNvSpPr/>
          <p:nvPr/>
        </p:nvSpPr>
        <p:spPr>
          <a:xfrm>
            <a:off x="6611112" y="4774997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237" name="Text 235"/>
          <p:cNvSpPr/>
          <p:nvPr/>
        </p:nvSpPr>
        <p:spPr>
          <a:xfrm>
            <a:off x="7114032" y="4774997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109728" y="4919472"/>
            <a:ext cx="8924544" cy="153619"/>
          </a:xfrm>
          <a:prstGeom prst="rect">
            <a:avLst/>
          </a:prstGeom>
          <a:solidFill>
            <a:srgbClr val="EBF4FA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155448" y="4928616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22:00</a:t>
            </a:r>
            <a:endParaRPr lang="en-US" sz="800" dirty="0"/>
          </a:p>
        </p:txBody>
      </p:sp>
      <p:sp>
        <p:nvSpPr>
          <p:cNvPr id="240" name="Shape 238"/>
          <p:cNvSpPr/>
          <p:nvPr/>
        </p:nvSpPr>
        <p:spPr>
          <a:xfrm>
            <a:off x="841248" y="4937760"/>
            <a:ext cx="1207008" cy="117043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841248" y="4937760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750" dirty="0"/>
          </a:p>
        </p:txBody>
      </p:sp>
      <p:sp>
        <p:nvSpPr>
          <p:cNvPr id="242" name="Text 240"/>
          <p:cNvSpPr/>
          <p:nvPr/>
        </p:nvSpPr>
        <p:spPr>
          <a:xfrm>
            <a:off x="2103120" y="4928616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12 ← LAST UPLOAD OF THE DAY</a:t>
            </a:r>
            <a:endParaRPr lang="en-US" sz="750" dirty="0"/>
          </a:p>
        </p:txBody>
      </p:sp>
      <p:sp>
        <p:nvSpPr>
          <p:cNvPr id="243" name="Text 241"/>
          <p:cNvSpPr/>
          <p:nvPr/>
        </p:nvSpPr>
        <p:spPr>
          <a:xfrm>
            <a:off x="5605272" y="4928616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244" name="Text 242"/>
          <p:cNvSpPr/>
          <p:nvPr/>
        </p:nvSpPr>
        <p:spPr>
          <a:xfrm>
            <a:off x="6108192" y="4928616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245" name="Text 243"/>
          <p:cNvSpPr/>
          <p:nvPr/>
        </p:nvSpPr>
        <p:spPr>
          <a:xfrm>
            <a:off x="6611112" y="4928616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114032" y="4928616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AR upload ✓</a:t>
            </a:r>
            <a:endParaRPr lang="en-US" sz="750" dirty="0"/>
          </a:p>
        </p:txBody>
      </p:sp>
      <p:sp>
        <p:nvSpPr>
          <p:cNvPr id="247" name="Shape 245"/>
          <p:cNvSpPr/>
          <p:nvPr/>
        </p:nvSpPr>
        <p:spPr>
          <a:xfrm>
            <a:off x="109728" y="5073091"/>
            <a:ext cx="8924544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155448" y="5082235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22:40</a:t>
            </a:r>
            <a:endParaRPr lang="en-US" sz="800" dirty="0"/>
          </a:p>
        </p:txBody>
      </p:sp>
      <p:sp>
        <p:nvSpPr>
          <p:cNvPr id="249" name="Shape 247"/>
          <p:cNvSpPr/>
          <p:nvPr/>
        </p:nvSpPr>
        <p:spPr>
          <a:xfrm>
            <a:off x="841248" y="5091379"/>
            <a:ext cx="1207008" cy="117043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841248" y="5091379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</a:t>
            </a:r>
            <a:endParaRPr lang="en-US" sz="750" dirty="0"/>
          </a:p>
        </p:txBody>
      </p:sp>
      <p:sp>
        <p:nvSpPr>
          <p:cNvPr id="251" name="Text 249"/>
          <p:cNvSpPr/>
          <p:nvPr/>
        </p:nvSpPr>
        <p:spPr>
          <a:xfrm>
            <a:off x="2103120" y="5082235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8 — reads 22:00 file (most complete data of the day)</a:t>
            </a:r>
            <a:endParaRPr lang="en-US" sz="750" dirty="0"/>
          </a:p>
        </p:txBody>
      </p:sp>
      <p:sp>
        <p:nvSpPr>
          <p:cNvPr id="252" name="Text 250"/>
          <p:cNvSpPr/>
          <p:nvPr/>
        </p:nvSpPr>
        <p:spPr>
          <a:xfrm>
            <a:off x="5605272" y="5082235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253" name="Text 251"/>
          <p:cNvSpPr/>
          <p:nvPr/>
        </p:nvSpPr>
        <p:spPr>
          <a:xfrm>
            <a:off x="6108192" y="5082235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254" name="Text 252"/>
          <p:cNvSpPr/>
          <p:nvPr/>
        </p:nvSpPr>
        <p:spPr>
          <a:xfrm>
            <a:off x="6611112" y="5082235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255" name="Text 253"/>
          <p:cNvSpPr/>
          <p:nvPr/>
        </p:nvSpPr>
        <p:spPr>
          <a:xfrm>
            <a:off x="7114032" y="5082235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final data</a:t>
            </a:r>
            <a:endParaRPr lang="en-US" sz="750" dirty="0"/>
          </a:p>
        </p:txBody>
      </p:sp>
      <p:sp>
        <p:nvSpPr>
          <p:cNvPr id="256" name="Shape 254"/>
          <p:cNvSpPr/>
          <p:nvPr/>
        </p:nvSpPr>
        <p:spPr>
          <a:xfrm>
            <a:off x="109728" y="5226710"/>
            <a:ext cx="8924544" cy="153619"/>
          </a:xfrm>
          <a:prstGeom prst="rect">
            <a:avLst/>
          </a:prstGeom>
          <a:solidFill>
            <a:srgbClr val="FEF9C3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155448" y="5235854"/>
            <a:ext cx="65836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23:10</a:t>
            </a:r>
            <a:endParaRPr lang="en-US" sz="800" dirty="0"/>
          </a:p>
        </p:txBody>
      </p:sp>
      <p:sp>
        <p:nvSpPr>
          <p:cNvPr id="258" name="Shape 256"/>
          <p:cNvSpPr/>
          <p:nvPr/>
        </p:nvSpPr>
        <p:spPr>
          <a:xfrm>
            <a:off x="841248" y="5244998"/>
            <a:ext cx="1207008" cy="117043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841248" y="5244998"/>
            <a:ext cx="1207008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</a:t>
            </a:r>
            <a:endParaRPr lang="en-US" sz="750" dirty="0"/>
          </a:p>
        </p:txBody>
      </p:sp>
      <p:sp>
        <p:nvSpPr>
          <p:cNvPr id="260" name="Text 258"/>
          <p:cNvSpPr/>
          <p:nvPr/>
        </p:nvSpPr>
        <p:spPr>
          <a:xfrm>
            <a:off x="2103120" y="5235854"/>
            <a:ext cx="3456432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8 = DAY-CLOSE POST  ✓ done 23:30 — day sealed</a:t>
            </a:r>
            <a:endParaRPr lang="en-US" sz="750" dirty="0"/>
          </a:p>
        </p:txBody>
      </p:sp>
      <p:sp>
        <p:nvSpPr>
          <p:cNvPr id="261" name="Text 259"/>
          <p:cNvSpPr/>
          <p:nvPr/>
        </p:nvSpPr>
        <p:spPr>
          <a:xfrm>
            <a:off x="5605272" y="5235854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262" name="Text 260"/>
          <p:cNvSpPr/>
          <p:nvPr/>
        </p:nvSpPr>
        <p:spPr>
          <a:xfrm>
            <a:off x="6108192" y="5235854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263" name="Text 261"/>
          <p:cNvSpPr/>
          <p:nvPr/>
        </p:nvSpPr>
        <p:spPr>
          <a:xfrm>
            <a:off x="6611112" y="5235854"/>
            <a:ext cx="45720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264" name="Text 262"/>
          <p:cNvSpPr/>
          <p:nvPr/>
        </p:nvSpPr>
        <p:spPr>
          <a:xfrm>
            <a:off x="7114032" y="5235854"/>
            <a:ext cx="188366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DAY SEALED</a:t>
            </a:r>
            <a:endParaRPr lang="en-US" sz="750" dirty="0"/>
          </a:p>
        </p:txBody>
      </p:sp>
      <p:sp>
        <p:nvSpPr>
          <p:cNvPr id="265" name="Shape 263"/>
          <p:cNvSpPr/>
          <p:nvPr/>
        </p:nvSpPr>
        <p:spPr>
          <a:xfrm>
            <a:off x="109728" y="4956048"/>
            <a:ext cx="8924544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SAFETY  →  05:00 Combiner checks yesterday's folder  →  05:30 DHIS2 re-posts if any late uploads found  →  done by 05:50  →  today's pipeline starts at 08:00  (2h 10min gap, no conflict)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Visual Flow — All Services on One 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51206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upload, every combine, every DHIS2 post. Early morning uploads shown in lighter blue — safe because RADET is cumulative.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25880" y="713232"/>
            <a:ext cx="74980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7899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95072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70383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7556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32867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04:00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5351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2524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7835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45008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20319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7492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82803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69976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45287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32460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07771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4944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70255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57428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32739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19912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95223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22:00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823960" y="713232"/>
            <a:ext cx="0" cy="3017520"/>
          </a:xfrm>
          <a:prstGeom prst="line">
            <a:avLst/>
          </a:prstGeom>
          <a:noFill/>
          <a:ln w="6350">
            <a:solidFill>
              <a:srgbClr val="D1D5D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8577072" y="72237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24:00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325880" y="914400"/>
            <a:ext cx="7498080" cy="694944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" y="960120"/>
            <a:ext cx="1207008" cy="603504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" y="960120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Facilities)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325880" y="1810512"/>
            <a:ext cx="7498080" cy="694944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" y="1856232"/>
            <a:ext cx="1207008" cy="603504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" y="185623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(VM)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25880" y="2706624"/>
            <a:ext cx="7498080" cy="694944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" y="2752344"/>
            <a:ext cx="1207008" cy="603504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" y="2752344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D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(VM)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325880" y="960120"/>
            <a:ext cx="156210" cy="603504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0720" y="960120"/>
            <a:ext cx="156210" cy="603504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75560" y="960120"/>
            <a:ext cx="156210" cy="603504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960120"/>
            <a:ext cx="156210" cy="603504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25240" y="960120"/>
            <a:ext cx="156210" cy="60350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50080" y="960120"/>
            <a:ext cx="156210" cy="60350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74920" y="960120"/>
            <a:ext cx="156210" cy="60350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99760" y="960120"/>
            <a:ext cx="156210" cy="60350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4600" y="960120"/>
            <a:ext cx="156210" cy="60350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9440" y="960120"/>
            <a:ext cx="156210" cy="60350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74280" y="960120"/>
            <a:ext cx="156210" cy="60350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99120" y="960120"/>
            <a:ext cx="156210" cy="60350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33520" y="1856232"/>
            <a:ext cx="104140" cy="603504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58360" y="1856232"/>
            <a:ext cx="104140" cy="603504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83200" y="1856232"/>
            <a:ext cx="104140" cy="603504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08040" y="1856232"/>
            <a:ext cx="104140" cy="603504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32880" y="1856232"/>
            <a:ext cx="104140" cy="603504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57720" y="1856232"/>
            <a:ext cx="104140" cy="603504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82560" y="1856232"/>
            <a:ext cx="104140" cy="603504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07400" y="1856232"/>
            <a:ext cx="104140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89730" y="2752344"/>
            <a:ext cx="104140" cy="60350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14570" y="2752344"/>
            <a:ext cx="104140" cy="60350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39410" y="2752344"/>
            <a:ext cx="104140" cy="60350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64250" y="2752344"/>
            <a:ext cx="104140" cy="60350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89090" y="2752344"/>
            <a:ext cx="104140" cy="60350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3930" y="2752344"/>
            <a:ext cx="104140" cy="60350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38770" y="2752344"/>
            <a:ext cx="104140" cy="60350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63610" y="2752344"/>
            <a:ext cx="104140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74920" y="914400"/>
            <a:ext cx="0" cy="2487168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11496" y="960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NOON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posts ✓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823960" y="914400"/>
            <a:ext cx="0" cy="2487168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19288" y="9875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9728" y="3493008"/>
            <a:ext cx="892454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01168" y="35295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SAFETY RUN (05:00–05:50 WAT next morning)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325880" y="3803904"/>
            <a:ext cx="749808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69848" y="38130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04:30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2569464" y="38130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05:00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069080" y="38130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05:30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568696" y="38130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068312" y="38130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06:30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567928" y="38130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825496" y="4151376"/>
            <a:ext cx="999744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852928" y="4151376"/>
            <a:ext cx="94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325112" y="4151376"/>
            <a:ext cx="999744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52544" y="4151376"/>
            <a:ext cx="94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 Post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324856" y="4151376"/>
            <a:ext cx="499872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52288" y="4151376"/>
            <a:ext cx="44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05:50 ✓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824728" y="4151376"/>
            <a:ext cx="5998464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852160" y="41513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 10 min gap → today's pipeline starts 08:00 (no conflict)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2871216" y="4480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Yesterday's data — posted to yesterday's DHIS2 period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True Data Loss Scenario — And How to Catch 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51206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three principles in place, there is exactly one remaining risk. It is visible, logged, and alertable.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877824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04672"/>
            <a:ext cx="73152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facility has ZERO successful uploads across ALL 12 cycles in one full 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1155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scenario — late upload, failed cycle, slow network, LAMIS restart — is handled by the three principles. This alone is unrecoverable from inside the pipeline.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609344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a facility to miss all 12 uploads in one day?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2880" y="1938528"/>
            <a:ext cx="2084832" cy="12070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0299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outage — entire day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4414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PC has no power for 24 hours. AutoRadet cannot run at all. Nothing uploaded.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95728" y="1938528"/>
            <a:ext cx="2084832" cy="1207008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87168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98648" y="20299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failure — entire day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24414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has no internet for 24 hours. AutoRadet can query LAMIS but cannot upload to blob.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1938528"/>
            <a:ext cx="2084832" cy="1207008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0016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11496" y="20299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LAMIS database down — entire day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0016" y="24414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LAMIS is unavailable all day. AutoRadet cannot generate the Excel file at all. Nothing to upload.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21424" y="1938528"/>
            <a:ext cx="2084832" cy="12070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12864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24344" y="20299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blocked — entire day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12864" y="24414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WAF blocks every auth call. Without PermitWhenInconclusive=true, every cycle aborts.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2880" y="32461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makes this visible — immediately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82880" y="3566160"/>
            <a:ext cx="2816352" cy="1408176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566160"/>
            <a:ext cx="2816352" cy="5486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576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check at every Combiner run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986784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every combine, Combiner cross-checks blob contents against the 73-facility registry.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facility has no file in today's folder → logged with timestamp.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 shows: Expected 73  Found 71  Missing: [FacilityC, FacilityQ]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27248" y="3566160"/>
            <a:ext cx="2816352" cy="1408176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27248" y="3566160"/>
            <a:ext cx="28163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18688" y="36576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after 2+ consecutive missing cycles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18688" y="3986784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facility is absent from 2 consecutive Combiner runs → alert fires immediately.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 can investigate before end of day.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Day-close audit marks facility as NEVER_UPLOADED_TODAY.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71616" y="3566160"/>
            <a:ext cx="2816352" cy="1408176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71616" y="3566160"/>
            <a:ext cx="2816352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36576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safety net final check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63056" y="3986784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05:00 next morning, safety run checks for any late overnight uploads.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still nothing → previous day's audit is permanently flagged as INCOMPLETE for that facility.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record shows exact dates and facilities with data gaps.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Scorecard — What to Expect Every 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51206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count and timing for every service event in a normal day. Print this and put it on the wall.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804672"/>
            <a:ext cx="1371600" cy="12618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804672"/>
            <a:ext cx="1371600" cy="5486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8778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92024" y="13533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AutoRadet uploads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facility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2024" y="16459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hrs, 24/7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 → 22:00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27632" y="804672"/>
            <a:ext cx="1371600" cy="1261872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27632" y="804672"/>
            <a:ext cx="1371600" cy="54864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7632" y="8778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682496" y="13533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runs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82496" y="16459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hrs offset +40 min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08:40 → 22:40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18104" y="804672"/>
            <a:ext cx="1371600" cy="1261872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18104" y="804672"/>
            <a:ext cx="1371600" cy="5486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18104" y="8778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172968" y="13533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 posts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72968" y="16459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hrs offset +70 min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 → 23:10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08576" y="804672"/>
            <a:ext cx="1371600" cy="126187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804672"/>
            <a:ext cx="137160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8778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663440" y="13533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before noon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16459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 WAT  and  11:30 WAT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confirmed 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99048" y="804672"/>
            <a:ext cx="1371600" cy="1261872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99048" y="804672"/>
            <a:ext cx="1371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8778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153912" y="13533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Day-close post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53912" y="16459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23:10 start → 23:30 done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sealed ✓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89520" y="804672"/>
            <a:ext cx="1371600" cy="12618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89520" y="804672"/>
            <a:ext cx="1371600" cy="5486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8778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7644384" y="13533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safety run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44384" y="16459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05:00 start → 05:50 done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confirmed ✓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37160" y="2176272"/>
            <a:ext cx="886968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21762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daily milestones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37160" y="2487168"/>
            <a:ext cx="8869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2487168"/>
            <a:ext cx="658368" cy="274320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24871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1248" y="250545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AutoRadet upload starts (data collection begins)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37160" y="2768803"/>
            <a:ext cx="8869680" cy="274320"/>
          </a:xfrm>
          <a:prstGeom prst="rect">
            <a:avLst/>
          </a:prstGeom>
          <a:solidFill>
            <a:srgbClr val="EBF4FA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" y="2768803"/>
            <a:ext cx="658368" cy="274320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2768803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1248" y="2787091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pipeline day begins — first expected upload window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37160" y="3050438"/>
            <a:ext cx="886968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7160" y="3050438"/>
            <a:ext cx="658368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305043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41248" y="306872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DHIS2 post complete — DHIS2 has today's morning data  ✓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37160" y="3332074"/>
            <a:ext cx="886968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7160" y="3332074"/>
            <a:ext cx="658368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333207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41248" y="3350362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DHIS2 post complete — confirmed before noon  ✓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37160" y="3613709"/>
            <a:ext cx="8869680" cy="274320"/>
          </a:xfrm>
          <a:prstGeom prst="rect">
            <a:avLst/>
          </a:prstGeom>
          <a:solidFill>
            <a:srgbClr val="EBF4FA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7160" y="3613709"/>
            <a:ext cx="658368" cy="274320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3613709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22:00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41248" y="3631997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AutoRadet upload window — most complete data of the day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37160" y="3895344"/>
            <a:ext cx="8869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7160" y="3895344"/>
            <a:ext cx="658368" cy="274320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7160" y="3895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22:40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41248" y="3913632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Combiner run — reads 22:00 file (most complete snapshot)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37160" y="4176979"/>
            <a:ext cx="886968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7160" y="4176979"/>
            <a:ext cx="658368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7160" y="4176979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23:30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41248" y="4195267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Day-close DHIS2 post complete — authoritative final record for today  ✓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37160" y="4458614"/>
            <a:ext cx="886968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7160" y="4458614"/>
            <a:ext cx="658368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7160" y="445861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05:50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41248" y="4476902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safety net complete — yesterday confirmed  ✓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37160" y="4740250"/>
            <a:ext cx="8869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7160" y="4740250"/>
            <a:ext cx="658368" cy="274320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37160" y="474025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41248" y="4758538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pipeline cycle 1 begins — 2h 10min after safety net ends (no conflict)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that are now structurally impossible — and one thing that remains a facility problem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343400" cy="1207008"/>
          </a:xfrm>
          <a:prstGeom prst="rect">
            <a:avLst/>
          </a:prstGeom>
          <a:solidFill>
            <a:srgbClr val="0D2E5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05840"/>
            <a:ext cx="54864" cy="1207008"/>
          </a:xfrm>
          <a:prstGeom prst="rect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097280"/>
            <a:ext cx="274320" cy="274320"/>
          </a:xfrm>
          <a:prstGeom prst="ellipse">
            <a:avLst/>
          </a:prstGeom>
          <a:solidFill>
            <a:srgbClr val="17A89E"/>
          </a:solidFill>
          <a:ln w="12700">
            <a:solidFill>
              <a:srgbClr val="17A8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09728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IMPOSSIBLE: Data lost because a cycle was missed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1426464"/>
            <a:ext cx="415137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RADET is cumulative. If a facility misses the 10:00 upload, the 08:00 file stays in blob and gets combined. No data is ever erased by a failed cycle.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304288"/>
            <a:ext cx="4343400" cy="1207008"/>
          </a:xfrm>
          <a:prstGeom prst="rect">
            <a:avLst/>
          </a:prstGeom>
          <a:solidFill>
            <a:srgbClr val="0D2E5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304288"/>
            <a:ext cx="54864" cy="1207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2395728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23957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IMPOSSIBLE: Today's data appearing as tomorrow's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2724912"/>
            <a:ext cx="415137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date captured at cycle START. A cycle starting at 23:50 always writes to today's folder even if upload completes at 00:05.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3602736"/>
            <a:ext cx="4343400" cy="1207008"/>
          </a:xfrm>
          <a:prstGeom prst="rect">
            <a:avLst/>
          </a:prstGeom>
          <a:solidFill>
            <a:srgbClr val="0D2E5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3602736"/>
            <a:ext cx="54864" cy="1207008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3694176"/>
            <a:ext cx="274320" cy="274320"/>
          </a:xfrm>
          <a:prstGeom prst="ellipse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369417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IMPOSSIBLE: Duplicate data inflating DHIS2 numbers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4023360"/>
            <a:ext cx="415137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filename = one file per facility in blob. Combiner reads one file per facility. DHIS2 receives exact numbers, never multiples.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4343400" cy="1207008"/>
          </a:xfrm>
          <a:prstGeom prst="rect">
            <a:avLst/>
          </a:prstGeom>
          <a:solidFill>
            <a:srgbClr val="0D2E5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005840"/>
            <a:ext cx="54864" cy="120700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097280"/>
            <a:ext cx="274320" cy="27432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109728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IMPOSSIBLE: Silent failures — no one knows data is missing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1426464"/>
            <a:ext cx="415137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check at every run. Audit JSON written after every DHIS2 post. Alert fires after 2+ consecutive missing cycles per facility.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304288"/>
            <a:ext cx="4343400" cy="1207008"/>
          </a:xfrm>
          <a:prstGeom prst="rect">
            <a:avLst/>
          </a:prstGeom>
          <a:solidFill>
            <a:srgbClr val="0D2E5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304288"/>
            <a:ext cx="54864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2395728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02352" y="23957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IMPOSSIBLE: Late uploads permanently lost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2724912"/>
            <a:ext cx="415137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safety run at 05:00 WAT checks yesterday's folder. Any file uploaded after day-close is caught, re-combined, re-posted.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602736"/>
            <a:ext cx="4343400" cy="1207008"/>
          </a:xfrm>
          <a:prstGeom prst="rect">
            <a:avLst/>
          </a:prstGeom>
          <a:solidFill>
            <a:srgbClr val="0D2E5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602736"/>
            <a:ext cx="54864" cy="120700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3168" y="3694176"/>
            <a:ext cx="274320" cy="27432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02352" y="369417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IMPOSSIBLE: DHIS2 reading stale combined file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4023360"/>
            <a:ext cx="415137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runs 40 min after each AutoRadet window. DHIS2 runs 30 min after Combiner. DHIS2 always reads data that is at most 70 min old.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2880" y="4800600"/>
            <a:ext cx="8778240" cy="23774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0060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REMAINING FACILITY PROBLEM (not a pipeline problem):  A facility has zero successful uploads across all 12 cycles in one day  →  visible in audit, alertable, historically tracked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RADET Pipeline — The No-Data-Loss Solution</dc:title>
  <dc:subject>PptxGenJS Presentation</dc:subject>
  <dc:creator>PptxGenJS</dc:creator>
  <cp:lastModifiedBy>PptxGenJS</cp:lastModifiedBy>
  <cp:revision>1</cp:revision>
  <dcterms:created xsi:type="dcterms:W3CDTF">2026-05-20T22:53:43Z</dcterms:created>
  <dcterms:modified xsi:type="dcterms:W3CDTF">2026-05-20T22:53:43Z</dcterms:modified>
</cp:coreProperties>
</file>